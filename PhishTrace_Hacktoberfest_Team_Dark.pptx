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E182B"/>
                </a:solidFill>
                <a:latin typeface="Arial Black"/>
              </a:defRPr>
            </a:pPr>
            <a:r>
              <a:t>RAMAIAH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Institute of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0" y="274320"/>
            <a:ext cx="1950415" cy="8229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600" b="1">
                <a:solidFill>
                  <a:srgbClr val="E73C27"/>
                </a:solidFill>
                <a:latin typeface="Arial Black"/>
              </a:rPr>
              <a:t>ML</a:t>
            </a:r>
            <a:r>
              <a:rPr sz="3600" b="1">
                <a:solidFill>
                  <a:srgbClr val="F59E0B"/>
                </a:solidFill>
                <a:latin typeface="Arial Black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657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0284C7"/>
                </a:solidFill>
                <a:latin typeface="Arial Black"/>
              </a:defRPr>
            </a:pPr>
            <a:r>
              <a:t>IEEE</a:t>
            </a:r>
          </a:p>
          <a:p>
            <a:pPr algn="r">
              <a:defRPr sz="1000" b="1">
                <a:solidFill>
                  <a:srgbClr val="0F172A"/>
                </a:solidFill>
                <a:latin typeface="Arial"/>
              </a:defRPr>
            </a:pPr>
            <a:r>
              <a:t>Computational Intelligence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 Black"/>
              </a:defRPr>
            </a:pPr>
            <a:r>
              <a:t>TEAM +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84248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EA580C"/>
                </a:solidFill>
                <a:latin typeface="Arial Black"/>
              </a:defRPr>
            </a:pPr>
            <a:r>
              <a:t>PROJECT TITLE: PhishTrace – AI Email Threat Forensics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72865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D9488"/>
                </a:solidFill>
                <a:latin typeface="Arial"/>
              </a:defRPr>
            </a:pPr>
            <a:r>
              <a:t>SELECTED DOMAIN / TRACK: Cybersecurity &amp; AI</a:t>
            </a:r>
          </a:p>
          <a:p>
            <a:pPr>
              <a:defRPr sz="1400" b="1">
                <a:solidFill>
                  <a:srgbClr val="0F172A"/>
                </a:solidFill>
                <a:latin typeface="Arial Black"/>
              </a:defRPr>
            </a:pPr>
            <a:r>
              <a:t>TEAM NAME: Team Dark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10728655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84448"/>
            <a:ext cx="16459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D9488"/>
                </a:solidFill>
                <a:latin typeface="Arial"/>
              </a:defRPr>
            </a:pPr>
            <a:r>
              <a:t>LEAD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566160"/>
            <a:ext cx="18288" cy="4114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3547872"/>
            <a:ext cx="8412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 Black"/>
              </a:defRPr>
            </a:pPr>
            <a:r>
              <a:t>JAYANTH.D</a:t>
            </a:r>
          </a:p>
          <a:p>
            <a:pPr>
              <a:defRPr sz="1100" b="1">
                <a:solidFill>
                  <a:srgbClr val="1D4ED8"/>
                </a:solidFill>
                <a:latin typeface="Arial"/>
              </a:defRPr>
            </a:pPr>
            <a:r>
              <a:t>jayanthedu1116@gmail.com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10728655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16459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D9488"/>
                </a:solidFill>
                <a:latin typeface="Arial"/>
              </a:defRPr>
            </a:pPr>
            <a:r>
              <a:t>MEMBER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4251959"/>
            <a:ext cx="18288" cy="4114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4233672"/>
            <a:ext cx="8412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DHANUSH.R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(BACKEND)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10728655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56048"/>
            <a:ext cx="16459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D9488"/>
                </a:solidFill>
                <a:latin typeface="Arial"/>
              </a:defRPr>
            </a:pPr>
            <a:r>
              <a:t>MEMBER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4937759"/>
            <a:ext cx="18288" cy="4114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0" y="4919472"/>
            <a:ext cx="8412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VISHAL.R (AI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TRAINING)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532120"/>
            <a:ext cx="10728655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41848"/>
            <a:ext cx="16459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D9488"/>
                </a:solidFill>
                <a:latin typeface="Arial"/>
              </a:defRPr>
            </a:pPr>
            <a:r>
              <a:t>MEMBER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5623559"/>
            <a:ext cx="18288" cy="4114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5605272"/>
            <a:ext cx="8412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Arial"/>
              </a:defRPr>
            </a:pPr>
            <a:r>
              <a:t>ARPITHA (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RESEARCHER)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291072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0D9488"/>
                </a:solidFill>
                <a:latin typeface="Arial"/>
              </a:defRPr>
            </a:pPr>
            <a:r>
              <a:t>NOTE: ALL TEAM MEMBERS MUST REGISTER INDIVIDUALLY ON ORGANIZERHQ.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E182B"/>
                </a:solidFill>
                <a:latin typeface="Arial Black"/>
              </a:defRPr>
            </a:pPr>
            <a:r>
              <a:t>RAMAIAH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Institute of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0" y="274320"/>
            <a:ext cx="1950415" cy="8229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600" b="1">
                <a:solidFill>
                  <a:srgbClr val="E73C27"/>
                </a:solidFill>
                <a:latin typeface="Arial Black"/>
              </a:rPr>
              <a:t>ML</a:t>
            </a:r>
            <a:r>
              <a:rPr sz="3600" b="1">
                <a:solidFill>
                  <a:srgbClr val="F59E0B"/>
                </a:solidFill>
                <a:latin typeface="Arial Black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657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0284C7"/>
                </a:solidFill>
                <a:latin typeface="Arial Black"/>
              </a:defRPr>
            </a:pPr>
            <a:r>
              <a:t>IEEE</a:t>
            </a:r>
          </a:p>
          <a:p>
            <a:pPr algn="r">
              <a:defRPr sz="1000" b="1">
                <a:solidFill>
                  <a:srgbClr val="0F172A"/>
                </a:solidFill>
                <a:latin typeface="Arial"/>
              </a:defRPr>
            </a:pPr>
            <a:r>
              <a:t>Computational Intelligence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 Black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>
                <a:solidFill>
                  <a:srgbClr val="475569"/>
                </a:solidFill>
                <a:latin typeface="Arial"/>
              </a:defRPr>
            </a:pPr>
            <a:r>
              <a:t>Hacktoberfest Hack Day Bengaluru × IEEE 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1663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075687"/>
            <a:ext cx="196596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TARGET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4709160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Security teams, banks, institutions and investigators, plus students and staff who face phishing every 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874519"/>
            <a:ext cx="51663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9672" y="2075687"/>
            <a:ext cx="1764792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CORE FRICTION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496311"/>
            <a:ext cx="4709160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Filters block but do not trace. Header analysis is manual and one email at a time, and no open tool links detection, origin tracing, campaigns and court-ready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51663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4361688"/>
            <a:ext cx="196596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CURRENT REALITY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82312"/>
            <a:ext cx="4709160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Attackers use AI-written text and lookalike domains to evade filters; investigators trace relay paths by hand.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160520"/>
            <a:ext cx="51663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19672" y="4361688"/>
            <a:ext cx="2167128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METRIC /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782312"/>
            <a:ext cx="4709160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>
                <a:solidFill>
                  <a:srgbClr val="1E293B"/>
                </a:solidFill>
                <a:latin typeface="Arial"/>
              </a:rPr>
              <a:t>FBI IC3 2025: business email compromise losses hit </a:t>
            </a:r>
            <a:r>
              <a:rPr sz="1150" b="1">
                <a:solidFill>
                  <a:srgbClr val="EA580C"/>
                </a:solidFill>
                <a:latin typeface="Arial"/>
              </a:rPr>
              <a:t>$3.05B</a:t>
            </a:r>
            <a:r>
              <a:rPr sz="1150">
                <a:solidFill>
                  <a:srgbClr val="1E293B"/>
                </a:solidFill>
                <a:latin typeface="Arial"/>
              </a:rPr>
              <a:t>; phishing was the most-reported crime (191K+ complaints).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E182B"/>
                </a:solidFill>
                <a:latin typeface="Arial Black"/>
              </a:defRPr>
            </a:pPr>
            <a:r>
              <a:t>RAMAIAH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Institute of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0" y="274320"/>
            <a:ext cx="1950415" cy="8229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600" b="1">
                <a:solidFill>
                  <a:srgbClr val="E73C27"/>
                </a:solidFill>
                <a:latin typeface="Arial Black"/>
              </a:rPr>
              <a:t>ML</a:t>
            </a:r>
            <a:r>
              <a:rPr sz="3600" b="1">
                <a:solidFill>
                  <a:srgbClr val="F59E0B"/>
                </a:solidFill>
                <a:latin typeface="Arial Black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657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0284C7"/>
                </a:solidFill>
                <a:latin typeface="Arial Black"/>
              </a:defRPr>
            </a:pPr>
            <a:r>
              <a:t>IEEE</a:t>
            </a:r>
          </a:p>
          <a:p>
            <a:pPr algn="r">
              <a:defRPr sz="1000" b="1">
                <a:solidFill>
                  <a:srgbClr val="0F172A"/>
                </a:solidFill>
                <a:latin typeface="Arial"/>
              </a:defRPr>
            </a:pPr>
            <a:r>
              <a:t>Computational Intelligence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 Black"/>
              </a:defRPr>
            </a:pPr>
            <a: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>
                <a:solidFill>
                  <a:srgbClr val="475569"/>
                </a:solidFill>
                <a:latin typeface="Arial"/>
              </a:defRPr>
            </a:pPr>
            <a:r>
              <a:t>Hacktoberfest Hack Day Bengaluru × IEEE 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42062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084831"/>
            <a:ext cx="164592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CORE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An open-source platform that detects phishing and business email compromise (BEC), traces probable origin with confidence scores, and links attacks into campaigns with hashed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4160520"/>
            <a:ext cx="146304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Feature 01: </a:t>
            </a:r>
            <a:r>
              <a:rPr sz="1100">
                <a:solidFill>
                  <a:srgbClr val="1E293B"/>
                </a:solidFill>
                <a:latin typeface="Arial"/>
              </a:rPr>
              <a:t>explainable threat detection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Feature 02: </a:t>
            </a:r>
            <a:r>
              <a:rPr sz="1100">
                <a:solidFill>
                  <a:srgbClr val="1E293B"/>
                </a:solidFill>
                <a:latin typeface="Arial"/>
              </a:rPr>
              <a:t>origin tracing + geo-confidence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Feature 03: </a:t>
            </a:r>
            <a:r>
              <a:rPr sz="1100">
                <a:solidFill>
                  <a:srgbClr val="1E293B"/>
                </a:solidFill>
                <a:latin typeface="Arial"/>
              </a:rPr>
              <a:t>campaign graph + hashed 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874519"/>
            <a:ext cx="1874519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2926080"/>
            <a:ext cx="160019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200" b="1">
                <a:solidFill>
                  <a:srgbClr val="0F172A"/>
                </a:solidFill>
                <a:latin typeface="Arial Black"/>
              </a:defRPr>
            </a:pPr>
            <a:r>
              <a:t>USER INPUT</a:t>
            </a:r>
          </a:p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.eml files,</a:t>
            </a:r>
            <a:br/>
            <a:r>
              <a:t>headers, body,</a:t>
            </a:r>
            <a:br/>
            <a:r>
              <a:t>attachments and</a:t>
            </a:r>
            <a:br/>
            <a:r>
              <a:t>URLs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41463" y="3931920"/>
            <a:ext cx="210312" cy="18288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06639" y="1874519"/>
            <a:ext cx="1874519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367" y="2743200"/>
            <a:ext cx="1655063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150" b="1">
                <a:solidFill>
                  <a:srgbClr val="0F172A"/>
                </a:solidFill>
                <a:latin typeface="Arial Black"/>
              </a:defRPr>
            </a:pPr>
            <a:r>
              <a:t>PROCESSING &amp;</a:t>
            </a:r>
            <a:br/>
            <a:r>
              <a:t>LOGIC ENGINE</a:t>
            </a:r>
          </a:p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header forensics,</a:t>
            </a:r>
            <a:br/>
            <a:r>
              <a:t>SPF/DKIM/DMARC,</a:t>
            </a:r>
            <a:br/>
            <a:r>
              <a:t>ML scoring, geo-</a:t>
            </a:r>
            <a:br/>
            <a:r>
              <a:t>confidence,</a:t>
            </a:r>
            <a:br/>
            <a:r>
              <a:t>campaign 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36022" y="3931920"/>
            <a:ext cx="210312" cy="18288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8" y="1874519"/>
            <a:ext cx="1874519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0926" y="2743200"/>
            <a:ext cx="1655063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150" b="1">
                <a:solidFill>
                  <a:srgbClr val="0F172A"/>
                </a:solidFill>
                <a:latin typeface="Arial Black"/>
              </a:defRPr>
            </a:pPr>
            <a:r>
              <a:t>DELIVERED</a:t>
            </a:r>
            <a:br/>
            <a:r>
              <a:t>OUTCOME</a:t>
            </a:r>
          </a:p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risk score with</a:t>
            </a:r>
            <a:br/>
            <a:r>
              <a:t>reasons, relay trace</a:t>
            </a:r>
            <a:br/>
            <a:r>
              <a:t>map, campaign view,</a:t>
            </a:r>
            <a:br/>
            <a:r>
              <a:t>hashed forensic</a:t>
            </a:r>
            <a:br/>
            <a:r>
              <a:t>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E182B"/>
                </a:solidFill>
                <a:latin typeface="Arial Black"/>
              </a:defRPr>
            </a:pPr>
            <a:r>
              <a:t>RAMAIAH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Institute of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0" y="274320"/>
            <a:ext cx="1950415" cy="8229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600" b="1">
                <a:solidFill>
                  <a:srgbClr val="E73C27"/>
                </a:solidFill>
                <a:latin typeface="Arial Black"/>
              </a:rPr>
              <a:t>ML</a:t>
            </a:r>
            <a:r>
              <a:rPr sz="3600" b="1">
                <a:solidFill>
                  <a:srgbClr val="F59E0B"/>
                </a:solidFill>
                <a:latin typeface="Arial Black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657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0284C7"/>
                </a:solidFill>
                <a:latin typeface="Arial Black"/>
              </a:defRPr>
            </a:pPr>
            <a:r>
              <a:t>IEEE</a:t>
            </a:r>
          </a:p>
          <a:p>
            <a:pPr algn="r">
              <a:defRPr sz="1000" b="1">
                <a:solidFill>
                  <a:srgbClr val="0F172A"/>
                </a:solidFill>
                <a:latin typeface="Arial"/>
              </a:defRPr>
            </a:pPr>
            <a:r>
              <a:t>Computational Intelligence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 Black"/>
              </a:defRPr>
            </a:pPr>
            <a:r>
              <a:t>OPEN-SOURCE AI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>
                <a:solidFill>
                  <a:srgbClr val="475569"/>
                </a:solidFill>
                <a:latin typeface="Arial"/>
              </a:defRPr>
            </a:pPr>
            <a:r>
              <a:t>Hacktoberfest Hack Day Bengaluru × IEEE 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1663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075687"/>
            <a:ext cx="196596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MODEL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4709160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Open-weight Qwen2.5-7B-Instruct or Llama 3.1 8B (Cloud via Ollama)/ grok/gemini ; XLM-R / MuRIL for Hindi-English text; LightGBM classifier.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874519"/>
            <a:ext cx="51663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9672" y="2075687"/>
            <a:ext cx="1764792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PIPELINE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496311"/>
            <a:ext cx="4709160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Local LLM extracts BEC intent and explains verdicts; embeddings cluster similar emails; LightGBM fuses signals into a risk score.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51663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4361688"/>
            <a:ext cx="2368296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TECHNICAL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82312"/>
            <a:ext cx="4709160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Laptop-friendly with low latency; emails never leave the machine; open weights are auditable; multilingual models handle Hinglish.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160520"/>
            <a:ext cx="51663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19672" y="4361688"/>
            <a:ext cx="2871216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EXTERNAL SERVICES / APIS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782312"/>
            <a:ext cx="4709160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GeoLite2 / DB-IP Lite, RDAP/WHOIS, Tor and blocklists, public phishing corpora (Nazario, SpamAssassin), NetworkX.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E182B"/>
                </a:solidFill>
                <a:latin typeface="Arial Black"/>
              </a:defRPr>
            </a:pPr>
            <a:r>
              <a:t>RAMAIAH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Institute of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0" y="274320"/>
            <a:ext cx="1950415" cy="8229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600" b="1">
                <a:solidFill>
                  <a:srgbClr val="E73C27"/>
                </a:solidFill>
                <a:latin typeface="Arial Black"/>
              </a:rPr>
              <a:t>ML</a:t>
            </a:r>
            <a:r>
              <a:rPr sz="3600" b="1">
                <a:solidFill>
                  <a:srgbClr val="F59E0B"/>
                </a:solidFill>
                <a:latin typeface="Arial Black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657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0284C7"/>
                </a:solidFill>
                <a:latin typeface="Arial Black"/>
              </a:defRPr>
            </a:pPr>
            <a:r>
              <a:t>IEEE</a:t>
            </a:r>
          </a:p>
          <a:p>
            <a:pPr algn="r">
              <a:defRPr sz="1000" b="1">
                <a:solidFill>
                  <a:srgbClr val="0F172A"/>
                </a:solidFill>
                <a:latin typeface="Arial"/>
              </a:defRPr>
            </a:pPr>
            <a:r>
              <a:t>Computational Intelligence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 Black"/>
              </a:defRPr>
            </a:pPr>
            <a:r>
              <a:t>ONE-DAY BUILD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>
                <a:solidFill>
                  <a:srgbClr val="475569"/>
                </a:solidFill>
                <a:latin typeface="Arial"/>
              </a:defRPr>
            </a:pPr>
            <a:r>
              <a:t>Hacktoberfest Hack Day Bengaluru × IEEE 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438912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075687"/>
            <a:ext cx="2368296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MINIMUM VIABLE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3931920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Upload a phishing .eml:</a:t>
            </a:r>
            <a:br/>
            <a:br/>
            <a:r>
              <a:t>risk score with reasons,</a:t>
            </a:r>
            <a:br/>
            <a:r>
              <a:t>relay trace map,</a:t>
            </a:r>
            <a:br/>
            <a:r>
              <a:t>hashed forensic PDF.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32120" y="2194560"/>
            <a:ext cx="36576" cy="2377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21808" y="1965960"/>
            <a:ext cx="457200" cy="4572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920240"/>
            <a:ext cx="5486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D9488"/>
                </a:solidFill>
                <a:latin typeface="Arial Black"/>
              </a:defRPr>
            </a:pPr>
            <a:r>
              <a:t>MILESTONE 01 (MORNING)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FastAPI setup, .eml parser, SPF/DKIM/DMARC checks, GeoLite2, baseline LightGBM model.</a:t>
            </a:r>
          </a:p>
        </p:txBody>
      </p:sp>
      <p:sp>
        <p:nvSpPr>
          <p:cNvPr id="13" name="Oval 12"/>
          <p:cNvSpPr/>
          <p:nvPr/>
        </p:nvSpPr>
        <p:spPr>
          <a:xfrm>
            <a:off x="5321808" y="2971800"/>
            <a:ext cx="457200" cy="4572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486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D9488"/>
                </a:solidFill>
                <a:latin typeface="Arial Black"/>
              </a:defRPr>
            </a:pPr>
            <a:r>
              <a:t>MILESTONE 02 (AFTERNOON)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Trust-boundary logic, geo-confidence, local LLM intent extraction, hashed evidence log.</a:t>
            </a:r>
          </a:p>
        </p:txBody>
      </p:sp>
      <p:sp>
        <p:nvSpPr>
          <p:cNvPr id="15" name="Oval 14"/>
          <p:cNvSpPr/>
          <p:nvPr/>
        </p:nvSpPr>
        <p:spPr>
          <a:xfrm>
            <a:off x="5321808" y="3977640"/>
            <a:ext cx="457200" cy="4572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931920"/>
            <a:ext cx="5486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D9488"/>
                </a:solidFill>
                <a:latin typeface="Arial Black"/>
              </a:defRPr>
            </a:pPr>
            <a:r>
              <a:t>MILESTONE 03 (EVENING)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React dashboard (risk gauge, trace map), PDF report, edge-case tests, pitch rehearsal.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40680"/>
            <a:ext cx="10728655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" y="5669280"/>
            <a:ext cx="164592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EA580C"/>
                </a:solidFill>
                <a:latin typeface="Arial"/>
              </a:defRPr>
            </a:pPr>
            <a:r>
              <a:t>FEEDBACK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596128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Backup: rules + LightGBM, offline GeoLite2, sample emails (no LLM, no live lookups). Feedback: test on 10 real .eml samples; 2 mentor reviews.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E182B"/>
                </a:solidFill>
                <a:latin typeface="Arial Black"/>
              </a:defRPr>
            </a:pPr>
            <a:r>
              <a:t>RAMAIAH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Institute of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0" y="274320"/>
            <a:ext cx="1950415" cy="8229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600" b="1">
                <a:solidFill>
                  <a:srgbClr val="E73C27"/>
                </a:solidFill>
                <a:latin typeface="Arial Black"/>
              </a:rPr>
              <a:t>ML</a:t>
            </a:r>
            <a:r>
              <a:rPr sz="3600" b="1">
                <a:solidFill>
                  <a:srgbClr val="F59E0B"/>
                </a:solidFill>
                <a:latin typeface="Arial Black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657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0284C7"/>
                </a:solidFill>
                <a:latin typeface="Arial Black"/>
              </a:defRPr>
            </a:pPr>
            <a:r>
              <a:t>IEEE</a:t>
            </a:r>
          </a:p>
          <a:p>
            <a:pPr algn="r">
              <a:defRPr sz="1000" b="1">
                <a:solidFill>
                  <a:srgbClr val="0F172A"/>
                </a:solidFill>
                <a:latin typeface="Arial"/>
              </a:defRPr>
            </a:pPr>
            <a:r>
              <a:t>Computational Intelligence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 Black"/>
              </a:defRPr>
            </a:pPr>
            <a:r>
              <a:t>IMPACT + FEASIBILITY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>
                <a:solidFill>
                  <a:srgbClr val="475569"/>
                </a:solidFill>
                <a:latin typeface="Arial"/>
              </a:defRPr>
            </a:pPr>
            <a:r>
              <a:t>Hacktoberfest Hack Day Bengaluru × IEEE 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1663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075687"/>
            <a:ext cx="2167128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MEASURABLE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47091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Benefits banks, institutions and response teams. Targets: precision &gt;90%, false positives &lt;2%, &lt;5 s per email.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1663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3584448"/>
            <a:ext cx="2871216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OPEN-SOURCE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05072"/>
            <a:ext cx="47091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Public MIT/Apache-2.0 repo with roadmap, README, sample .eml set and contribution guide.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51663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5093208"/>
            <a:ext cx="3172968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TECHNICAL RISK &amp; WORKAROUND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513832"/>
            <a:ext cx="47091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Arial"/>
              </a:defRPr>
            </a:pPr>
            <a:r>
              <a:t>Risk: origin hidden by VPN, Tor or mail providers. Workaround: trusted-boundary logic, flag anonymizers, lower confidence.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1874519"/>
            <a:ext cx="51663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19672" y="2084831"/>
            <a:ext cx="164592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Arial"/>
              </a:defRPr>
            </a:pPr>
            <a:r>
              <a:t>ETHICS &amp;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542032"/>
            <a:ext cx="47091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150" b="1">
                <a:solidFill>
                  <a:srgbClr val="1E293B"/>
                </a:solidFill>
                <a:latin typeface="Arial"/>
              </a:defRPr>
            </a:pPr>
            <a:r>
              <a:t>Privacy: local processing, PII masking, retention limits.</a:t>
            </a:r>
          </a:p>
          <a:p>
            <a:pPr>
              <a:spcAft>
                <a:spcPts val="1600"/>
              </a:spcAft>
              <a:defRPr sz="1150" b="1">
                <a:solidFill>
                  <a:srgbClr val="1E293B"/>
                </a:solidFill>
                <a:latin typeface="Arial"/>
              </a:defRPr>
            </a:pPr>
            <a:r>
              <a:t>Bias: multilingual train and test data, per-language error checks.</a:t>
            </a:r>
          </a:p>
          <a:p>
            <a:pPr>
              <a:defRPr sz="1150" b="1">
                <a:solidFill>
                  <a:srgbClr val="1E293B"/>
                </a:solidFill>
                <a:latin typeface="Arial"/>
              </a:defRPr>
            </a:pPr>
            <a:r>
              <a:t>Guardrails: LLM output tied to header evidence; confidence scores, not accusations; human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